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Surrogate Modeling for Piezoelectric Morphing Wings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Input: Lower MFC voltage, Upper MFC voltage, Pitch angle</a:t>
            </a:r>
          </a:p>
          <a:p>
            <a:pPr>
              <a:defRPr sz="1400"/>
            </a:pPr>
            <a:r>
              <a:t>Output: Trailing-edge deflection, Lift coefficient (C_L), Drag coefficient (C_D)</a:t>
            </a:r>
          </a:p>
          <a:p>
            <a:pPr>
              <a:defRPr sz="1400"/>
            </a:pPr>
            <a:r>
              <a:t>Challenge: Replace expensive CFD and structural simulations</a:t>
            </a:r>
          </a:p>
          <a:p>
            <a:pPr>
              <a:defRPr sz="1400"/>
            </a:pPr>
            <a:r>
              <a:t>Solution: Build fast, accurate surrogate models using ML</a:t>
            </a:r>
          </a:p>
        </p:txBody>
      </p:sp>
      <p:pic>
        <p:nvPicPr>
          <p:cNvPr id="4" name="Picture 3" descr="fig01_pipelin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1046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Training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Structural dataset: 300 ANSYS coupled-field simulations</a:t>
            </a:r>
          </a:p>
          <a:p>
            <a:pPr>
              <a:defRPr sz="1400"/>
            </a:pPr>
            <a:r>
              <a:t>Aerodynamic dataset: 201 CFD samples</a:t>
            </a:r>
          </a:p>
          <a:p>
            <a:pPr>
              <a:defRPr sz="1400"/>
            </a:pPr>
            <a:r>
              <a:t>Sparse coverage: Limited voltage combinations and pitch angles</a:t>
            </a:r>
          </a:p>
          <a:p>
            <a:pPr>
              <a:defRPr sz="1400"/>
            </a:pPr>
            <a:r>
              <a:t>Solution: Physics-consistent synthetic data augmentation</a:t>
            </a:r>
          </a:p>
        </p:txBody>
      </p:sp>
      <p:pic>
        <p:nvPicPr>
          <p:cNvPr id="4" name="Picture 3" descr="fig10_data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1763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Surrogate: Voltages → Deflection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Task: Predict trailing-edge deflection from MFC voltages</a:t>
            </a:r>
          </a:p>
          <a:p>
            <a:pPr>
              <a:defRPr sz="1200"/>
            </a:pPr>
            <a:r>
              <a:t>Best model: Linear regression</a:t>
            </a:r>
          </a:p>
          <a:p>
            <a:pPr>
              <a:defRPr sz="1200"/>
            </a:pPr>
            <a:r>
              <a:t>Accuracy: R² = 0.9999, MAE = 0.0016 mm</a:t>
            </a:r>
          </a:p>
          <a:p>
            <a:pPr>
              <a:defRPr sz="1200"/>
            </a:pPr>
            <a:r>
              <a:t>Validation: Parity plot (left), Response curves (right)</a:t>
            </a:r>
          </a:p>
        </p:txBody>
      </p:sp>
      <p:pic>
        <p:nvPicPr>
          <p:cNvPr id="4" name="Picture 3" descr="fig02_structura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920240" cy="1117231"/>
          </a:xfrm>
          <a:prstGeom prst="rect">
            <a:avLst/>
          </a:prstGeom>
        </p:spPr>
      </p:pic>
      <p:pic>
        <p:nvPicPr>
          <p:cNvPr id="5" name="Picture 4" descr="fig03_deflection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200400"/>
            <a:ext cx="1920240" cy="17860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Aerodynamic Surrogate: Deflection + Pitch → C_L, C_D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Task: Predict lift and drag from deflection and pitch angle</a:t>
            </a:r>
          </a:p>
          <a:p>
            <a:pPr>
              <a:defRPr sz="1200"/>
            </a:pPr>
            <a:r>
              <a:t>Baseline: Linear regression (R² = 0.98 for C_L, 0.83 for C_D)</a:t>
            </a:r>
          </a:p>
          <a:p>
            <a:pPr>
              <a:defRPr sz="1200"/>
            </a:pPr>
            <a:r>
              <a:t>Improved: MLP regressor after augmentation</a:t>
            </a:r>
          </a:p>
          <a:p>
            <a:pPr>
              <a:defRPr sz="1200"/>
            </a:pPr>
            <a:r>
              <a:t>Results: C_L MAE = 0.0022, C_D MAE = 0.0021 (both R² &gt; 0.99)</a:t>
            </a:r>
          </a:p>
        </p:txBody>
      </p:sp>
      <p:pic>
        <p:nvPicPr>
          <p:cNvPr id="4" name="Picture 3" descr="fig04a_aerodynamic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920240" cy="1103227"/>
          </a:xfrm>
          <a:prstGeom prst="rect">
            <a:avLst/>
          </a:prstGeom>
        </p:spPr>
      </p:pic>
      <p:pic>
        <p:nvPicPr>
          <p:cNvPr id="5" name="Picture 4" descr="fig04b_aerodynamic_m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200400"/>
            <a:ext cx="1920240" cy="11032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Augmentation and Performance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Generated 7,797 synthetic rows using physics-consistent interpolation</a:t>
            </a:r>
          </a:p>
          <a:p>
            <a:pPr>
              <a:defRPr sz="1400"/>
            </a:pPr>
            <a:r>
              <a:t>Strict and noisy variants tested for robustness</a:t>
            </a:r>
          </a:p>
          <a:p>
            <a:pPr>
              <a:defRPr sz="1400"/>
            </a:pPr>
            <a:r>
              <a:t>MLP benefits more from augmentation than linear models</a:t>
            </a:r>
          </a:p>
          <a:p>
            <a:pPr>
              <a:defRPr sz="1400"/>
            </a:pPr>
            <a:r>
              <a:t>C_D improvement: 20× reduction in error after augmentation</a:t>
            </a:r>
          </a:p>
        </p:txBody>
      </p:sp>
      <p:pic>
        <p:nvPicPr>
          <p:cNvPr id="4" name="Picture 3" descr="fig06_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154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Chained ML Pipeline: Voltages → C_L, C_D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End-to-end: Structural model → Aerodynamic model</a:t>
            </a:r>
          </a:p>
          <a:p>
            <a:pPr>
              <a:defRPr sz="1400"/>
            </a:pPr>
            <a:r>
              <a:t>Tested on 201 real CFD validation points</a:t>
            </a:r>
          </a:p>
          <a:p>
            <a:pPr>
              <a:defRPr sz="1400"/>
            </a:pPr>
            <a:r>
              <a:t>Linear chain: C_L MAE = 0.0050, C_D MAE = 0.0093</a:t>
            </a:r>
          </a:p>
          <a:p>
            <a:pPr>
              <a:defRPr sz="1400"/>
            </a:pPr>
            <a:r>
              <a:t>MLP chain (selected): C_L MAE = 0.0022, C_D MAE = 0.0021</a:t>
            </a:r>
          </a:p>
        </p:txBody>
      </p:sp>
      <p:pic>
        <p:nvPicPr>
          <p:cNvPr id="4" name="Picture 3" descr="fig05_chai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389120" cy="4430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Inverse Voltage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Input: Target C_L and pitch angle (with optional C_D constraint)</a:t>
            </a:r>
          </a:p>
          <a:p>
            <a:pPr>
              <a:defRPr sz="1400"/>
            </a:pPr>
            <a:r>
              <a:t>Method: Grid search (50 V step) + L-BFGS-B continuous refinement</a:t>
            </a:r>
          </a:p>
          <a:p>
            <a:pPr>
              <a:defRPr sz="1400"/>
            </a:pPr>
            <a:r>
              <a:t>Output: Ranked voltage pairs with predicted aerodynamic coefficients</a:t>
            </a:r>
          </a:p>
          <a:p>
            <a:pPr>
              <a:defRPr sz="1400"/>
            </a:pPr>
            <a:r>
              <a:t>Use case: Control system for achieving desired lift at any pitch</a:t>
            </a:r>
          </a:p>
        </p:txBody>
      </p:sp>
      <p:pic>
        <p:nvPicPr>
          <p:cNvPr id="4" name="Picture 3" descr="fig09_inverse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1761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Analysis: Model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Chained model accuracy varies with pitch angle</a:t>
            </a:r>
          </a:p>
          <a:p>
            <a:pPr>
              <a:defRPr sz="1400"/>
            </a:pPr>
            <a:r>
              <a:t>C_L error: Consistent across pitch range</a:t>
            </a:r>
          </a:p>
          <a:p>
            <a:pPr>
              <a:defRPr sz="1400"/>
            </a:pPr>
            <a:r>
              <a:t>C_D error: Increases slightly at extreme angles</a:t>
            </a:r>
          </a:p>
          <a:p>
            <a:pPr>
              <a:defRPr sz="1400"/>
            </a:pPr>
            <a:r>
              <a:t>Recommendation: Use model in −4° to +20° pitch range for best accuracy</a:t>
            </a:r>
          </a:p>
        </p:txBody>
      </p:sp>
      <p:pic>
        <p:nvPicPr>
          <p:cNvPr id="4" name="Picture 3" descr="fig08_error_vs_p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3600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Key Results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✓ Structural surrogate: Near-perfect accuracy (R² ≈ 0.9999)</a:t>
            </a:r>
          </a:p>
          <a:p>
            <a:pPr>
              <a:defRPr sz="1400"/>
            </a:pPr>
            <a:r>
              <a:t>✓ Aerodynamic MLP: Significant improvement with augmented training</a:t>
            </a:r>
          </a:p>
          <a:p>
            <a:pPr>
              <a:defRPr sz="1400"/>
            </a:pPr>
            <a:r>
              <a:t>✓ Full chain: Fast (&lt;60 ms), accurate replacement for simulation</a:t>
            </a:r>
          </a:p>
          <a:p>
            <a:pPr>
              <a:defRPr sz="1400"/>
            </a:pPr>
            <a:r>
              <a:t>✓ Inverse control: Enables real-time voltage recommendations for target lift</a:t>
            </a:r>
          </a:p>
        </p:txBody>
      </p:sp>
      <p:pic>
        <p:nvPicPr>
          <p:cNvPr id="4" name="Picture 3" descr="fig06_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154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